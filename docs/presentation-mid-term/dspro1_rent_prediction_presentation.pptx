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71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71" autoAdjust="0"/>
  </p:normalViewPr>
  <p:slideViewPr>
    <p:cSldViewPr snapToGrid="0" snapToObjects="1">
      <p:cViewPr varScale="1">
        <p:scale>
          <a:sx n="79" d="100"/>
          <a:sy n="79" d="100"/>
        </p:scale>
        <p:origin x="25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3DD0C-7D6C-4C8C-8AA9-FEC5D85FD2DF}" type="datetimeFigureOut">
              <a:rPr lang="de-CH" smtClean="0"/>
              <a:t>13.03.2026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1DA7E-AE92-485A-8887-CD2923936C8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268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wadafacc/projects/2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1DA7E-AE92-485A-8887-CD2923936C8D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1900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>
                <a:hlinkClick r:id="rId3"/>
              </a:rPr>
              <a:t>Backlog · KANBAN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1DA7E-AE92-485A-8887-CD2923936C8D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275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Predicting Apartment Rental Prices in Switzerland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DSPRO1 Project</a:t>
            </a:r>
          </a:p>
          <a:p>
            <a:r>
              <a:rPr dirty="0"/>
              <a:t>Team: Elias Martinelli, Timo Schlumpf</a:t>
            </a:r>
          </a:p>
          <a:p>
            <a:r>
              <a:rPr dirty="0"/>
              <a:t>Supervisor: Elena Nazarenko</a:t>
            </a:r>
          </a:p>
          <a:p>
            <a:r>
              <a:rPr dirty="0"/>
              <a:t>HSLU Informatik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Swiss rental prices vary strongly by location.</a:t>
            </a:r>
          </a:p>
          <a:p>
            <a:r>
              <a:rPr dirty="0"/>
              <a:t>Prospective tenants often struggle to judge if a rent is fair.</a:t>
            </a:r>
          </a:p>
          <a:p>
            <a:r>
              <a:rPr dirty="0"/>
              <a:t>Goal: Predict monthly rent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B9004-0E7D-14C7-0C57-593C2833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Project Progress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F896CA-FB77-3A54-E9F7-B1BA5D701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Github</a:t>
            </a:r>
            <a:r>
              <a:rPr lang="de-CH" dirty="0"/>
              <a:t> Projects =&gt; KANBAN  Tool</a:t>
            </a:r>
          </a:p>
          <a:p>
            <a:endParaRPr lang="de-CH" dirty="0"/>
          </a:p>
        </p:txBody>
      </p:sp>
      <p:pic>
        <p:nvPicPr>
          <p:cNvPr id="6" name="Grafik 5" descr="Ein Bild, das Screenshot, Software, Multimedia-Software, Text enthält.&#10;&#10;KI-generierte Inhalte können fehlerhaft sein.">
            <a:extLst>
              <a:ext uri="{FF2B5EF4-FFF2-40B4-BE49-F238E27FC236}">
                <a16:creationId xmlns:a16="http://schemas.microsoft.com/office/drawing/2014/main" id="{4242030E-257C-817F-B8BD-DE74EE920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00208"/>
            <a:ext cx="8229600" cy="36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1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8BED-6ACD-6F20-68F0-9CEB12A3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D4EC9-CB41-A05D-1F9A-81201000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Milestones</a:t>
            </a:r>
          </a:p>
        </p:txBody>
      </p:sp>
      <p:pic>
        <p:nvPicPr>
          <p:cNvPr id="6" name="Inhaltsplatzhalter 8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0012AD2F-D783-0FFD-366B-CB9E134F9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672" y="1378794"/>
            <a:ext cx="6010656" cy="5325231"/>
          </a:xfrm>
        </p:spPr>
      </p:pic>
    </p:spTree>
    <p:extLst>
      <p:ext uri="{BB962C8B-B14F-4D97-AF65-F5344CB8AC3E}">
        <p14:creationId xmlns:p14="http://schemas.microsoft.com/office/powerpoint/2010/main" val="141631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80AB5-AF98-E7BA-E1C1-36565F0B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Roadmap</a:t>
            </a:r>
          </a:p>
        </p:txBody>
      </p:sp>
      <p:pic>
        <p:nvPicPr>
          <p:cNvPr id="5" name="Inhaltsplatzhalter 4" descr="Ein Bild, das Screenshot, Software, Multimedia-Software, Text enthält.&#10;&#10;KI-generierte Inhalte können fehlerhaft sein.">
            <a:extLst>
              <a:ext uri="{FF2B5EF4-FFF2-40B4-BE49-F238E27FC236}">
                <a16:creationId xmlns:a16="http://schemas.microsoft.com/office/drawing/2014/main" id="{05CEB87D-E596-8ED7-8E54-5BB26796C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61328"/>
            <a:ext cx="8229600" cy="340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6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Primary dataset: Swiss apartment listings scraped from </a:t>
            </a:r>
            <a:r>
              <a:rPr dirty="0" err="1"/>
              <a:t>Comparis</a:t>
            </a:r>
            <a:r>
              <a:rPr dirty="0"/>
              <a:t>.</a:t>
            </a:r>
          </a:p>
          <a:p>
            <a:r>
              <a:rPr dirty="0"/>
              <a:t>Several thousand listings expected.</a:t>
            </a:r>
          </a:p>
          <a:p>
            <a:r>
              <a:rPr dirty="0"/>
              <a:t>Target variable: Monthly rent in CHF.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Living area (sqm)</a:t>
            </a:r>
          </a:p>
          <a:p>
            <a:r>
              <a:rPr dirty="0"/>
              <a:t>Number of rooms</a:t>
            </a:r>
          </a:p>
          <a:p>
            <a:r>
              <a:rPr dirty="0"/>
              <a:t>Floor / year built</a:t>
            </a:r>
          </a:p>
          <a:p>
            <a:r>
              <a:rPr dirty="0"/>
              <a:t>Canton, city, ZIP code</a:t>
            </a:r>
          </a:p>
          <a:p>
            <a:r>
              <a:rPr dirty="0"/>
              <a:t>Apartment characteristics (balcony, parking, furnished)</a:t>
            </a:r>
            <a:endParaRPr lang="de-CH" dirty="0"/>
          </a:p>
          <a:p>
            <a:r>
              <a:rPr lang="de-CH" dirty="0"/>
              <a:t>Monthly </a:t>
            </a:r>
            <a:r>
              <a:rPr lang="de-CH" dirty="0" err="1"/>
              <a:t>rent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 duplicates</a:t>
            </a:r>
          </a:p>
          <a:p>
            <a:r>
              <a:rPr dirty="0"/>
              <a:t>Handle missing values</a:t>
            </a:r>
          </a:p>
          <a:p>
            <a:r>
              <a:rPr dirty="0"/>
              <a:t>Clean categorical labels</a:t>
            </a:r>
          </a:p>
          <a:p>
            <a:r>
              <a:rPr dirty="0"/>
              <a:t>Detect outliers</a:t>
            </a:r>
          </a:p>
          <a:p>
            <a:r>
              <a:rPr dirty="0"/>
              <a:t>Feature scaling for linear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 variables</a:t>
            </a:r>
          </a:p>
          <a:p>
            <a:r>
              <a:t>Derived features (rent per sqm)</a:t>
            </a:r>
          </a:p>
          <a:p>
            <a:r>
              <a:t>Tax index by municipality</a:t>
            </a:r>
          </a:p>
          <a:p>
            <a:r>
              <a:t>Distance to public transport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model (mean rent)</a:t>
            </a:r>
          </a:p>
          <a:p>
            <a:r>
              <a:t>Linear Regression</a:t>
            </a:r>
          </a:p>
          <a:p>
            <a:r>
              <a:t>Random Forest Regressor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 (Mean Absolute Error)</a:t>
            </a:r>
          </a:p>
          <a:p>
            <a:r>
              <a:t>RMSE (Root Mean Squared Error)</a:t>
            </a:r>
          </a:p>
          <a:p>
            <a:r>
              <a:t>R² (Coefficient of Determination)</a:t>
            </a:r>
          </a:p>
          <a:p>
            <a:r>
              <a:t>Cross-validation used for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predictive performance of models</a:t>
            </a:r>
          </a:p>
          <a:p>
            <a:r>
              <a:t>Analyze feature importance</a:t>
            </a:r>
          </a:p>
          <a:p>
            <a:r>
              <a:t>Evaluate prediction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main drivers of rent</a:t>
            </a:r>
          </a:p>
          <a:p>
            <a:r>
              <a:t>Assess usefulness of ML for rent estimation</a:t>
            </a:r>
          </a:p>
          <a:p>
            <a:r>
              <a:t>Discuss limitations and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Bildschirmpräsentation (4:3)</PresentationFormat>
  <Paragraphs>55</Paragraphs>
  <Slides>13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Predicting Apartment Rental Prices in Switzerland</vt:lpstr>
      <vt:lpstr>Problem</vt:lpstr>
      <vt:lpstr>Project Progress</vt:lpstr>
      <vt:lpstr>Milestones</vt:lpstr>
      <vt:lpstr>Roadmap</vt:lpstr>
      <vt:lpstr>Data Source</vt:lpstr>
      <vt:lpstr>Features</vt:lpstr>
      <vt:lpstr>Data Processing</vt:lpstr>
      <vt:lpstr>Feature Engineering</vt:lpstr>
      <vt:lpstr>Models</vt:lpstr>
      <vt:lpstr>Evaluation Metrics</vt:lpstr>
      <vt:lpstr>Results (Planned)</vt:lpstr>
      <vt:lpstr>Conclusion (Planned)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MARTINELLI Elias Danilo (EQUANS Switzerland)</cp:lastModifiedBy>
  <cp:revision>2</cp:revision>
  <dcterms:created xsi:type="dcterms:W3CDTF">2013-01-27T09:14:16Z</dcterms:created>
  <dcterms:modified xsi:type="dcterms:W3CDTF">2026-03-13T10:24:09Z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4a238cc-6af3-4341-9d32-201b7e04331f_Enabled">
    <vt:lpwstr>true</vt:lpwstr>
  </property>
  <property fmtid="{D5CDD505-2E9C-101B-9397-08002B2CF9AE}" pid="3" name="MSIP_Label_64a238cc-6af3-4341-9d32-201b7e04331f_SetDate">
    <vt:lpwstr>2026-03-13T10:24:09Z</vt:lpwstr>
  </property>
  <property fmtid="{D5CDD505-2E9C-101B-9397-08002B2CF9AE}" pid="4" name="MSIP_Label_64a238cc-6af3-4341-9d32-201b7e04331f_Method">
    <vt:lpwstr>Standard</vt:lpwstr>
  </property>
  <property fmtid="{D5CDD505-2E9C-101B-9397-08002B2CF9AE}" pid="5" name="MSIP_Label_64a238cc-6af3-4341-9d32-201b7e04331f_Name">
    <vt:lpwstr>Internal</vt:lpwstr>
  </property>
  <property fmtid="{D5CDD505-2E9C-101B-9397-08002B2CF9AE}" pid="6" name="MSIP_Label_64a238cc-6af3-4341-9d32-201b7e04331f_SiteId">
    <vt:lpwstr>09ebfde1-6505-4c31-942f-18875ff0189d</vt:lpwstr>
  </property>
  <property fmtid="{D5CDD505-2E9C-101B-9397-08002B2CF9AE}" pid="7" name="MSIP_Label_64a238cc-6af3-4341-9d32-201b7e04331f_ActionId">
    <vt:lpwstr>d338fbab-d83b-403a-9ac3-8136aab1add0</vt:lpwstr>
  </property>
  <property fmtid="{D5CDD505-2E9C-101B-9397-08002B2CF9AE}" pid="8" name="MSIP_Label_64a238cc-6af3-4341-9d32-201b7e04331f_ContentBits">
    <vt:lpwstr>0</vt:lpwstr>
  </property>
  <property fmtid="{D5CDD505-2E9C-101B-9397-08002B2CF9AE}" pid="9" name="MSIP_Label_64a238cc-6af3-4341-9d32-201b7e04331f_Tag">
    <vt:lpwstr>10, 3, 0, 1</vt:lpwstr>
  </property>
</Properties>
</file>